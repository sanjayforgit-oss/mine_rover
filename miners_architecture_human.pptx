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SYSTEM ARCHITECTURE &amp; TECHNICAL FLOW</a:t>
            </a:r>
          </a:p>
          <a:p>
            <a:pPr>
              <a:defRPr sz="1200" b="1">
                <a:solidFill>
                  <a:srgbClr val="EA580C"/>
                </a:solidFill>
                <a:latin typeface="Calibri"/>
              </a:defRPr>
            </a:pPr>
            <a:r>
              <a:t>M.I.N.E.R.S. — Mobile Intelligent Navigation and Emergency Rescue System | SIH 2026 (PS ID: 26039)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3429000" cy="3977639"/>
          </a:xfrm>
          <a:prstGeom prst="roundRect">
            <a:avLst/>
          </a:prstGeom>
          <a:solidFill>
            <a:srgbClr val="CFFAFE"/>
          </a:solidFill>
          <a:ln w="254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82880" rIns="182880"/>
          <a:lstStyle/>
          <a:p>
            <a:pPr algn="ctr">
              <a:defRPr sz="1300" b="1">
                <a:solidFill>
                  <a:srgbClr val="0E7490"/>
                </a:solidFill>
                <a:latin typeface="Calibri"/>
              </a:defRPr>
            </a:pPr>
            <a:r>
              <a:t>01. MULTI-MODAL SENSING</a:t>
            </a:r>
          </a:p>
          <a:p>
            <a:pPr>
              <a:spcAft>
                <a:spcPts val="12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Environmental &amp; Spatial Perception</a:t>
            </a:r>
          </a:p>
          <a:p>
            <a:pPr>
              <a:spcAft>
                <a:spcPts val="600"/>
              </a:spcAft>
              <a:defRPr sz="900" b="1">
                <a:solidFill>
                  <a:srgbClr val="0F172A"/>
                </a:solidFill>
                <a:latin typeface="Calibri"/>
              </a:defRPr>
            </a:pPr>
            <a:r>
              <a:t>• 360° 2D LiDAR: </a:t>
            </a:r>
            <a:r>
              <a:rPr b="0">
                <a:solidFill>
                  <a:srgbClr val="334155"/>
                </a:solidFill>
              </a:rPr>
              <a:t>Continuous 2D tunnel mapping &amp; boundary obstacle detection (No 3D LiDAR).</a:t>
            </a:r>
          </a:p>
          <a:p>
            <a:pPr>
              <a:spcAft>
                <a:spcPts val="600"/>
              </a:spcAft>
              <a:defRPr sz="900" b="1">
                <a:solidFill>
                  <a:srgbClr val="0F172A"/>
                </a:solidFill>
                <a:latin typeface="Calibri"/>
              </a:defRPr>
            </a:pPr>
            <a:r>
              <a:t>• Stereo RGB-D Camera: </a:t>
            </a:r>
            <a:r>
              <a:rPr b="0">
                <a:solidFill>
                  <a:srgbClr val="334155"/>
                </a:solidFill>
              </a:rPr>
              <a:t>Unified camera for visual video stream &amp; dense depth traversability.</a:t>
            </a:r>
          </a:p>
          <a:p>
            <a:pPr>
              <a:spcAft>
                <a:spcPts val="600"/>
              </a:spcAft>
              <a:defRPr sz="900" b="1">
                <a:solidFill>
                  <a:srgbClr val="0F172A"/>
                </a:solidFill>
                <a:latin typeface="Calibri"/>
              </a:defRPr>
            </a:pPr>
            <a:r>
              <a:t>• Thermal IR Camera: </a:t>
            </a:r>
            <a:r>
              <a:rPr b="0">
                <a:solidFill>
                  <a:srgbClr val="334155"/>
                </a:solidFill>
              </a:rPr>
              <a:t>Detects survivor body heat signatures through darkness, dust and smoke.</a:t>
            </a:r>
          </a:p>
          <a:p>
            <a:pPr>
              <a:spcAft>
                <a:spcPts val="600"/>
              </a:spcAft>
              <a:defRPr sz="900" b="1">
                <a:solidFill>
                  <a:srgbClr val="0F172A"/>
                </a:solidFill>
                <a:latin typeface="Calibri"/>
              </a:defRPr>
            </a:pPr>
            <a:r>
              <a:t>• Multi-Gas Sensor Array: </a:t>
            </a:r>
            <a:r>
              <a:rPr b="0">
                <a:solidFill>
                  <a:srgbClr val="334155"/>
                </a:solidFill>
              </a:rPr>
              <a:t>Real-time toxic &amp; flammable gas tracking (CH4, CO, CO2, O2, Smoke).</a:t>
            </a:r>
          </a:p>
          <a:p>
            <a:pPr>
              <a:spcAft>
                <a:spcPts val="600"/>
              </a:spcAft>
              <a:defRPr sz="900" b="1">
                <a:solidFill>
                  <a:srgbClr val="0F172A"/>
                </a:solidFill>
                <a:latin typeface="Calibri"/>
              </a:defRPr>
            </a:pPr>
            <a:r>
              <a:t>• Slip-Aware IMU &amp; Encoders: </a:t>
            </a:r>
            <a:r>
              <a:rPr b="0">
                <a:solidFill>
                  <a:srgbClr val="334155"/>
                </a:solidFill>
              </a:rPr>
              <a:t>6-DOF IMU and wheel encoders provide dead reckoning in zero-GPS tunnels.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79976" y="1234440"/>
            <a:ext cx="3429000" cy="3977639"/>
          </a:xfrm>
          <a:prstGeom prst="roundRect">
            <a:avLst/>
          </a:prstGeom>
          <a:solidFill>
            <a:srgbClr val="F3E8FF"/>
          </a:solidFill>
          <a:ln w="254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82880" rIns="182880"/>
          <a:lstStyle/>
          <a:p>
            <a:pPr algn="ctr">
              <a:defRPr sz="1300" b="1">
                <a:solidFill>
                  <a:srgbClr val="6B21A8"/>
                </a:solidFill>
                <a:latin typeface="Calibri"/>
              </a:defRPr>
            </a:pPr>
            <a:r>
              <a:t>02. INTELLIGENT EDGE BRAIN</a:t>
            </a:r>
          </a:p>
          <a:p>
            <a:pPr>
              <a:spcAft>
                <a:spcPts val="12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Onboard AI &amp; Distributed Compute</a:t>
            </a:r>
          </a:p>
          <a:p>
            <a:pPr>
              <a:spcAft>
                <a:spcPts val="600"/>
              </a:spcAft>
              <a:defRPr sz="900" b="1">
                <a:solidFill>
                  <a:srgbClr val="0F172A"/>
                </a:solidFill>
                <a:latin typeface="Calibri"/>
              </a:defRPr>
            </a:pPr>
            <a:r>
              <a:t>• Raspberry Pi 5 (8GB): </a:t>
            </a:r>
            <a:r>
              <a:rPr b="0">
                <a:solidFill>
                  <a:srgbClr val="334155"/>
                </a:solidFill>
              </a:rPr>
              <a:t>Master edge host orchestrating ROS2 nodes, communication &amp; sensor fusion.</a:t>
            </a:r>
          </a:p>
          <a:p>
            <a:pPr>
              <a:spcAft>
                <a:spcPts val="600"/>
              </a:spcAft>
              <a:defRPr sz="900" b="1">
                <a:solidFill>
                  <a:srgbClr val="0F172A"/>
                </a:solidFill>
                <a:latin typeface="Calibri"/>
              </a:defRPr>
            </a:pPr>
            <a:r>
              <a:t>• Raspberry Pi AI HAT+: </a:t>
            </a:r>
            <a:r>
              <a:rPr b="0">
                <a:solidFill>
                  <a:srgbClr val="334155"/>
                </a:solidFill>
              </a:rPr>
              <a:t>26 TOPS NPU delivers real-time on-device YOLOv8 person &amp; posture inference.</a:t>
            </a:r>
          </a:p>
          <a:p>
            <a:pPr>
              <a:spcAft>
                <a:spcPts val="600"/>
              </a:spcAft>
              <a:defRPr sz="900" b="1">
                <a:solidFill>
                  <a:srgbClr val="0F172A"/>
                </a:solidFill>
                <a:latin typeface="Calibri"/>
              </a:defRPr>
            </a:pPr>
            <a:r>
              <a:t>• Arduino Mega 2560: </a:t>
            </a:r>
            <a:r>
              <a:rPr b="0">
                <a:solidFill>
                  <a:srgbClr val="334155"/>
                </a:solidFill>
              </a:rPr>
              <a:t>Hard real-time deterministic motor PWM actuation &amp; hardware safety watchdog.</a:t>
            </a:r>
          </a:p>
          <a:p>
            <a:pPr>
              <a:spcAft>
                <a:spcPts val="600"/>
              </a:spcAft>
              <a:defRPr sz="900" b="1">
                <a:solidFill>
                  <a:srgbClr val="0F172A"/>
                </a:solidFill>
                <a:latin typeface="Calibri"/>
              </a:defRPr>
            </a:pPr>
            <a:r>
              <a:t>• Isolated Power Unit: </a:t>
            </a:r>
            <a:r>
              <a:rPr b="0">
                <a:solidFill>
                  <a:srgbClr val="334155"/>
                </a:solidFill>
              </a:rPr>
              <a:t>Dedicated 12V high-current motor rails &amp; clean 5V logic rails with BMS telemetry.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28432" y="1234440"/>
            <a:ext cx="3429000" cy="3977639"/>
          </a:xfrm>
          <a:prstGeom prst="roundRect">
            <a:avLst/>
          </a:prstGeom>
          <a:solidFill>
            <a:srgbClr val="FEF08A"/>
          </a:solidFill>
          <a:ln w="2540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82880" rIns="182880"/>
          <a:lstStyle/>
          <a:p>
            <a:pPr algn="ctr">
              <a:defRPr sz="1300" b="1">
                <a:solidFill>
                  <a:srgbClr val="A16207"/>
                </a:solidFill>
                <a:latin typeface="Calibri"/>
              </a:defRPr>
            </a:pPr>
            <a:r>
              <a:t>03. BOUNDED AUTONOMY &amp; SAFETY</a:t>
            </a:r>
          </a:p>
          <a:p>
            <a:pPr>
              <a:spcAft>
                <a:spcPts val="12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Resilient Decision &amp; Fail-Safe Navigation</a:t>
            </a:r>
          </a:p>
          <a:p>
            <a:pPr>
              <a:spcAft>
                <a:spcPts val="600"/>
              </a:spcAft>
              <a:defRPr sz="900" b="1">
                <a:solidFill>
                  <a:srgbClr val="0F172A"/>
                </a:solidFill>
                <a:latin typeface="Calibri"/>
              </a:defRPr>
            </a:pPr>
            <a:r>
              <a:t>• Safety Governor: </a:t>
            </a:r>
            <a:r>
              <a:rPr b="0">
                <a:solidFill>
                  <a:srgbClr val="334155"/>
                </a:solidFill>
              </a:rPr>
              <a:t>Hard constraint rules strictly override AI to enforce emergency stops &amp; safe retreat.</a:t>
            </a:r>
          </a:p>
          <a:p>
            <a:pPr>
              <a:spcAft>
                <a:spcPts val="600"/>
              </a:spcAft>
              <a:defRPr sz="900" b="1">
                <a:solidFill>
                  <a:srgbClr val="0F172A"/>
                </a:solidFill>
                <a:latin typeface="Calibri"/>
              </a:defRPr>
            </a:pPr>
            <a:r>
              <a:t>• Bounded Autonomy: </a:t>
            </a:r>
            <a:r>
              <a:rPr b="0">
                <a:solidFill>
                  <a:srgbClr val="334155"/>
                </a:solidFill>
              </a:rPr>
              <a:t>Operates under strict distance &amp; time limits during complete communication loss.</a:t>
            </a:r>
          </a:p>
          <a:p>
            <a:pPr>
              <a:spcAft>
                <a:spcPts val="600"/>
              </a:spcAft>
              <a:defRPr sz="900" b="1">
                <a:solidFill>
                  <a:srgbClr val="0F172A"/>
                </a:solidFill>
                <a:latin typeface="Calibri"/>
              </a:defRPr>
            </a:pPr>
            <a:r>
              <a:t>• Safe Auto-Rollback: </a:t>
            </a:r>
            <a:r>
              <a:rPr b="0">
                <a:solidFill>
                  <a:srgbClr val="334155"/>
                </a:solidFill>
              </a:rPr>
              <a:t>Backtracks along proven safe path upon sudden gas spikes or structural cracks.</a:t>
            </a:r>
          </a:p>
          <a:p>
            <a:pPr>
              <a:spcAft>
                <a:spcPts val="600"/>
              </a:spcAft>
              <a:defRPr sz="900" b="1">
                <a:solidFill>
                  <a:srgbClr val="0F172A"/>
                </a:solidFill>
                <a:latin typeface="Calibri"/>
              </a:defRPr>
            </a:pPr>
            <a:r>
              <a:t>• Breadcrumb Mesh Relays: </a:t>
            </a:r>
            <a:r>
              <a:rPr b="0">
                <a:solidFill>
                  <a:srgbClr val="334155"/>
                </a:solidFill>
              </a:rPr>
              <a:t>Drops deployable wireless repeater nodes to maintain connectivity deep inside.</a:t>
            </a:r>
          </a:p>
          <a:p>
            <a:pPr>
              <a:spcAft>
                <a:spcPts val="600"/>
              </a:spcAft>
              <a:defRPr sz="900" b="1">
                <a:solidFill>
                  <a:srgbClr val="0F172A"/>
                </a:solidFill>
                <a:latin typeface="Calibri"/>
              </a:defRPr>
            </a:pPr>
            <a:r>
              <a:t>• Blackbox SD Buffer: </a:t>
            </a:r>
            <a:r>
              <a:rPr b="0">
                <a:solidFill>
                  <a:srgbClr val="334155"/>
                </a:solidFill>
              </a:rPr>
              <a:t>Store-and-forward local logging guarantees zero mission data is ever lost.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49240"/>
            <a:ext cx="10728655" cy="11430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228600" rIns="228600"/>
          <a:lstStyle/>
          <a:p>
            <a:pPr algn="ctr">
              <a:defRPr sz="1200" b="1">
                <a:solidFill>
                  <a:srgbClr val="FED7AA"/>
                </a:solidFill>
                <a:latin typeface="Calibri"/>
              </a:defRPr>
            </a:pPr>
            <a:r>
              <a:t>SURFACE RESCUE COMMAND STATION  (Human-in-the-Loop Base)</a:t>
            </a:r>
          </a:p>
          <a:p>
            <a:pPr>
              <a:spcAft>
                <a:spcPts val="400"/>
              </a:spcAft>
              <a:defRPr sz="950">
                <a:solidFill>
                  <a:srgbClr val="FFFFFF"/>
                </a:solidFill>
                <a:latin typeface="Calibri"/>
              </a:defRPr>
            </a:pPr>
            <a:r>
              <a:t>🗺️ Real-Time 2D Grid &amp; Gas Heatmap   |   📹 Video + Thermal IR Stream   |   📡 Mesh Relay Telemetry   |   🕹️ Manual Emergency Override (E-STOP)</a:t>
            </a:r>
          </a:p>
          <a:p>
            <a:pPr>
              <a:defRPr sz="850" b="1">
                <a:solidFill>
                  <a:srgbClr val="EA580C"/>
                </a:solidFill>
                <a:latin typeface="Calibri"/>
              </a:defRPr>
            </a:pPr>
            <a:r>
              <a:t>Guiding Principle: “AI Assists Detection — Rescue Team Makes the Final Decision”  |  Bounded Autonomy During Signal Blackout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