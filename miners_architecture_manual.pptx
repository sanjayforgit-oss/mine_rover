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M.I.N.E.R.S. SYSTEM ARCHITECTURE</a:t>
            </a:r>
          </a:p>
          <a:p>
            <a:pPr>
              <a:defRPr sz="1100" b="1">
                <a:solidFill>
                  <a:srgbClr val="EA580C"/>
                </a:solidFill>
                <a:latin typeface="Calibri"/>
              </a:defRPr>
            </a:pPr>
            <a:r>
              <a:t>Mobile Intelligent Navigation and Emergency Rescue System | SIH 2026 (PS ID: 26039)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868680"/>
            <a:ext cx="1490472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18288" lIns="36576" rIns="36576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1. SENSE</a:t>
            </a:r>
          </a:p>
          <a:p>
            <a:pPr algn="ctr">
              <a:defRPr sz="750">
                <a:solidFill>
                  <a:srgbClr val="E2E8F0"/>
                </a:solidFill>
              </a:defRPr>
            </a:pPr>
            <a:r>
              <a:t>Multi-Modal Sensors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48840" y="868680"/>
            <a:ext cx="1490472" cy="411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18288" lIns="36576" rIns="36576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2. COMPUTE</a:t>
            </a:r>
          </a:p>
          <a:p>
            <a:pPr algn="ctr">
              <a:defRPr sz="750">
                <a:solidFill>
                  <a:srgbClr val="64748B"/>
                </a:solidFill>
              </a:defRPr>
            </a:pPr>
            <a:r>
              <a:t>Edge Processing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49039" y="868680"/>
            <a:ext cx="1490472" cy="411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18288" lIns="36576" rIns="36576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3. UNDERSTAND</a:t>
            </a:r>
          </a:p>
          <a:p>
            <a:pPr algn="ctr">
              <a:defRPr sz="750">
                <a:solidFill>
                  <a:srgbClr val="64748B"/>
                </a:solidFill>
              </a:defRPr>
            </a:pPr>
            <a:r>
              <a:t>Perception &amp; Fusion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49240" y="868680"/>
            <a:ext cx="1490472" cy="411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18288" lIns="36576" rIns="36576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4. ASSESS</a:t>
            </a:r>
          </a:p>
          <a:p>
            <a:pPr algn="ctr">
              <a:defRPr sz="750">
                <a:solidFill>
                  <a:srgbClr val="64748B"/>
                </a:solidFill>
              </a:defRPr>
            </a:pPr>
            <a:r>
              <a:t>Risk &amp; Governor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868680"/>
            <a:ext cx="1490472" cy="411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18288" lIns="36576" rIns="36576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5. DECIDE</a:t>
            </a:r>
          </a:p>
          <a:p>
            <a:pPr algn="ctr">
              <a:defRPr sz="750">
                <a:solidFill>
                  <a:srgbClr val="64748B"/>
                </a:solidFill>
              </a:defRPr>
            </a:pPr>
            <a:r>
              <a:t>Autonomous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868680"/>
            <a:ext cx="1490472" cy="411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18288" lIns="36576" rIns="36576"/>
          <a:lstStyle/>
          <a:p>
            <a:pPr algn="ctr">
              <a:defRPr sz="950" b="1">
                <a:solidFill>
                  <a:srgbClr val="0F172A"/>
                </a:solidFill>
              </a:defRPr>
            </a:pPr>
            <a:r>
              <a:t>6. ACT</a:t>
            </a:r>
          </a:p>
          <a:p>
            <a:pPr algn="ctr">
              <a:defRPr sz="750">
                <a:solidFill>
                  <a:srgbClr val="64748B"/>
                </a:solidFill>
              </a:defRPr>
            </a:pPr>
            <a:r>
              <a:t>4WD Rugged Response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49840" y="868680"/>
            <a:ext cx="1490472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18288" lIns="36576" rIns="36576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7. RESCUE</a:t>
            </a:r>
          </a:p>
          <a:p>
            <a:pPr algn="ctr">
              <a:defRPr sz="750">
                <a:solidFill>
                  <a:srgbClr val="E2E8F0"/>
                </a:solidFill>
              </a:defRPr>
            </a:pPr>
            <a:r>
              <a:t>Surface 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17320"/>
            <a:ext cx="1737360" cy="40690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3504" y="1490472"/>
            <a:ext cx="1627631" cy="47548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18288" lIns="36576" rIns="36576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1. SENSING LAYER</a:t>
            </a:r>
          </a:p>
          <a:p>
            <a:pPr algn="ctr">
              <a:defRPr sz="750">
                <a:solidFill>
                  <a:srgbClr val="F1F5F9"/>
                </a:solidFill>
              </a:defRPr>
            </a:pPr>
            <a:r>
              <a:t>“Sense the Mine”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" y="2039112"/>
            <a:ext cx="1627631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18288" lIns="45720" rIns="45720"/>
          <a:lstStyle/>
          <a:p>
            <a:pPr algn="ctr">
              <a:defRPr sz="800" b="1">
                <a:solidFill>
                  <a:srgbClr val="0F172A"/>
                </a:solidFill>
              </a:defRPr>
            </a:pPr>
            <a:r>
              <a:t>• 360° 2D LiDAR</a:t>
            </a:r>
          </a:p>
          <a:p>
            <a:pPr>
              <a:defRPr sz="680">
                <a:solidFill>
                  <a:srgbClr val="64748B"/>
                </a:solidFill>
              </a:defRPr>
            </a:pPr>
            <a:r>
              <a:t>2D Tunnel Contour &amp; Obstacle Boundary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2532888"/>
            <a:ext cx="1627631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18288" lIns="45720" rIns="45720"/>
          <a:lstStyle/>
          <a:p>
            <a:pPr algn="ctr">
              <a:defRPr sz="800" b="1">
                <a:solidFill>
                  <a:srgbClr val="0F172A"/>
                </a:solidFill>
              </a:defRPr>
            </a:pPr>
            <a:r>
              <a:t>• Stereo RGB-D Camera</a:t>
            </a:r>
          </a:p>
          <a:p>
            <a:pPr>
              <a:defRPr sz="680">
                <a:solidFill>
                  <a:srgbClr val="64748B"/>
                </a:solidFill>
              </a:defRPr>
            </a:pPr>
            <a:r>
              <a:t>Dense Depth Estimation &amp; Video Feed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" y="3026664"/>
            <a:ext cx="1627631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18288" lIns="45720" rIns="45720"/>
          <a:lstStyle/>
          <a:p>
            <a:pPr algn="ctr">
              <a:defRPr sz="800" b="1">
                <a:solidFill>
                  <a:srgbClr val="0F172A"/>
                </a:solidFill>
              </a:defRPr>
            </a:pPr>
            <a:r>
              <a:t>• Thermal Camera</a:t>
            </a:r>
          </a:p>
          <a:p>
            <a:pPr>
              <a:defRPr sz="680">
                <a:solidFill>
                  <a:srgbClr val="64748B"/>
                </a:solidFill>
              </a:defRPr>
            </a:pPr>
            <a:r>
              <a:t>Infrared Heat Signature &amp; Survivor Spot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" y="3520440"/>
            <a:ext cx="1627631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18288" lIns="45720" rIns="45720"/>
          <a:lstStyle/>
          <a:p>
            <a:pPr algn="ctr">
              <a:defRPr sz="800" b="1">
                <a:solidFill>
                  <a:srgbClr val="0F172A"/>
                </a:solidFill>
              </a:defRPr>
            </a:pPr>
            <a:r>
              <a:t>• Multi-Gas Sensor Array</a:t>
            </a:r>
          </a:p>
          <a:p>
            <a:pPr>
              <a:defRPr sz="680">
                <a:solidFill>
                  <a:srgbClr val="64748B"/>
                </a:solidFill>
              </a:defRPr>
            </a:pPr>
            <a:r>
              <a:t>CH4, CO, CO2, O2, Flammable/Toxic Gases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" y="4014216"/>
            <a:ext cx="1627631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18288" lIns="45720" rIns="45720"/>
          <a:lstStyle/>
          <a:p>
            <a:pPr algn="ctr">
              <a:defRPr sz="800" b="1">
                <a:solidFill>
                  <a:srgbClr val="0F172A"/>
                </a:solidFill>
              </a:defRPr>
            </a:pPr>
            <a:r>
              <a:t>• Environmental Sensors</a:t>
            </a:r>
          </a:p>
          <a:p>
            <a:pPr>
              <a:defRPr sz="680">
                <a:solidFill>
                  <a:srgbClr val="64748B"/>
                </a:solidFill>
              </a:defRPr>
            </a:pPr>
            <a:r>
              <a:t>Temperature, Humidity, Airflow, Dust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" y="4507992"/>
            <a:ext cx="1627631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18288" lIns="45720" rIns="45720"/>
          <a:lstStyle/>
          <a:p>
            <a:pPr algn="ctr">
              <a:defRPr sz="800" b="1">
                <a:solidFill>
                  <a:srgbClr val="0F172A"/>
                </a:solidFill>
              </a:defRPr>
            </a:pPr>
            <a:r>
              <a:t>• Ultrasonic Array</a:t>
            </a:r>
          </a:p>
          <a:p>
            <a:pPr>
              <a:defRPr sz="680">
                <a:solidFill>
                  <a:srgbClr val="64748B"/>
                </a:solidFill>
              </a:defRPr>
            </a:pPr>
            <a:r>
              <a:t>Blind-Spot &amp; Water Puddle Redundancy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" y="5001768"/>
            <a:ext cx="1627631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18288" lIns="45720" rIns="45720"/>
          <a:lstStyle/>
          <a:p>
            <a:pPr algn="ctr">
              <a:defRPr sz="800" b="1">
                <a:solidFill>
                  <a:srgbClr val="0F172A"/>
                </a:solidFill>
              </a:defRPr>
            </a:pPr>
            <a:r>
              <a:t>• IMU + Wheel Encoders</a:t>
            </a:r>
          </a:p>
          <a:p>
            <a:pPr>
              <a:defRPr sz="680">
                <a:solidFill>
                  <a:srgbClr val="64748B"/>
                </a:solidFill>
              </a:defRPr>
            </a:pPr>
            <a:r>
              <a:t>Dead Reckoning &amp; Odometry Tracking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14016" y="1417320"/>
            <a:ext cx="1737360" cy="4069080"/>
          </a:xfrm>
          <a:prstGeom prst="roundRect">
            <a:avLst/>
          </a:prstGeom>
          <a:solidFill>
            <a:srgbClr val="ECFEFF"/>
          </a:solidFill>
          <a:ln w="19050">
            <a:solidFill>
              <a:srgbClr val="A5F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468880" y="1490472"/>
            <a:ext cx="1627631" cy="475488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18288" lIns="36576" rIns="36576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2. EDGE COMPUTE</a:t>
            </a:r>
          </a:p>
          <a:p>
            <a:pPr algn="ctr">
              <a:defRPr sz="750">
                <a:solidFill>
                  <a:srgbClr val="F1F5F9"/>
                </a:solidFill>
              </a:defRPr>
            </a:pPr>
            <a:r>
              <a:t>“Process Locally”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68880" y="2039112"/>
            <a:ext cx="1627631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5F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18288" lIns="45720" rIns="45720"/>
          <a:lstStyle/>
          <a:p>
            <a:pPr algn="ctr">
              <a:defRPr sz="800" b="1">
                <a:solidFill>
                  <a:srgbClr val="0F172A"/>
                </a:solidFill>
              </a:defRPr>
            </a:pPr>
            <a:r>
              <a:t>• Raspberry Pi 5 (8GB)</a:t>
            </a:r>
          </a:p>
          <a:p>
            <a:pPr>
              <a:defRPr sz="680">
                <a:solidFill>
                  <a:srgbClr val="64748B"/>
                </a:solidFill>
              </a:defRPr>
            </a:pPr>
            <a:r>
              <a:t>System Orchestration, ROS2 Core, Logging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68880" y="2715768"/>
            <a:ext cx="1627631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5F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18288" lIns="45720" rIns="45720"/>
          <a:lstStyle/>
          <a:p>
            <a:pPr algn="ctr">
              <a:defRPr sz="800" b="1">
                <a:solidFill>
                  <a:srgbClr val="0F172A"/>
                </a:solidFill>
              </a:defRPr>
            </a:pPr>
            <a:r>
              <a:t>• Raspberry Pi AI HAT+</a:t>
            </a:r>
          </a:p>
          <a:p>
            <a:pPr>
              <a:defRPr sz="680">
                <a:solidFill>
                  <a:srgbClr val="64748B"/>
                </a:solidFill>
              </a:defRPr>
            </a:pPr>
            <a:r>
              <a:t>26 TOPS NPU: Vision &amp; Deep Learning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68880" y="3392424"/>
            <a:ext cx="1627631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5F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18288" lIns="45720" rIns="45720"/>
          <a:lstStyle/>
          <a:p>
            <a:pPr algn="ctr">
              <a:defRPr sz="800" b="1">
                <a:solidFill>
                  <a:srgbClr val="0F172A"/>
                </a:solidFill>
              </a:defRPr>
            </a:pPr>
            <a:r>
              <a:t>• Arduino Mega 2560</a:t>
            </a:r>
          </a:p>
          <a:p>
            <a:pPr>
              <a:defRPr sz="680">
                <a:solidFill>
                  <a:srgbClr val="64748B"/>
                </a:solidFill>
              </a:defRPr>
            </a:pPr>
            <a:r>
              <a:t>Hard Real-Time Motor &amp; Sensor Polling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68880" y="4069080"/>
            <a:ext cx="1627631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5F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18288" lIns="45720" rIns="45720"/>
          <a:lstStyle/>
          <a:p>
            <a:pPr algn="ctr">
              <a:defRPr sz="800" b="1">
                <a:solidFill>
                  <a:srgbClr val="0F172A"/>
                </a:solidFill>
              </a:defRPr>
            </a:pPr>
            <a:r>
              <a:t>• Power Distribution</a:t>
            </a:r>
          </a:p>
          <a:p>
            <a:pPr>
              <a:defRPr sz="680">
                <a:solidFill>
                  <a:srgbClr val="64748B"/>
                </a:solidFill>
              </a:defRPr>
            </a:pPr>
            <a:r>
              <a:t>12V/24V Regulated Power Rail &amp; BMS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68880" y="4745736"/>
            <a:ext cx="1627631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5F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18288" lIns="45720" rIns="45720"/>
          <a:lstStyle/>
          <a:p>
            <a:pPr algn="ctr">
              <a:defRPr sz="800" b="1">
                <a:solidFill>
                  <a:srgbClr val="0F172A"/>
                </a:solidFill>
              </a:defRPr>
            </a:pPr>
            <a:r>
              <a:t>• Hardware Watchdog</a:t>
            </a:r>
          </a:p>
          <a:p>
            <a:pPr>
              <a:defRPr sz="680">
                <a:solidFill>
                  <a:srgbClr val="64748B"/>
                </a:solidFill>
              </a:defRPr>
            </a:pPr>
            <a:r>
              <a:t>Fail-Safe Heartbeat &amp; Relay Dropper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79392" y="1417320"/>
            <a:ext cx="1737360" cy="4069080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334256" y="1490472"/>
            <a:ext cx="1627631" cy="475488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18288" lIns="36576" rIns="36576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3. AI PERCEPTION</a:t>
            </a:r>
          </a:p>
          <a:p>
            <a:pPr algn="ctr">
              <a:defRPr sz="750">
                <a:solidFill>
                  <a:srgbClr val="F1F5F9"/>
                </a:solidFill>
              </a:defRPr>
            </a:pPr>
            <a:r>
              <a:t>“Understand Mine”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34256" y="2039112"/>
            <a:ext cx="1627631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18288" lIns="45720" rIns="45720"/>
          <a:lstStyle/>
          <a:p>
            <a:pPr algn="ctr">
              <a:defRPr sz="800" b="1">
                <a:solidFill>
                  <a:srgbClr val="0F172A"/>
                </a:solidFill>
              </a:defRPr>
            </a:pPr>
            <a:r>
              <a:t>• 2D LiDAR SLAM</a:t>
            </a:r>
          </a:p>
          <a:p>
            <a:pPr>
              <a:defRPr sz="680">
                <a:solidFill>
                  <a:srgbClr val="64748B"/>
                </a:solidFill>
              </a:defRPr>
            </a:pPr>
            <a:r>
              <a:t>Real-Time 2D Grid Mapping (RTAB/Fast-LIO)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34256" y="2715768"/>
            <a:ext cx="1627631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18288" lIns="45720" rIns="45720"/>
          <a:lstStyle/>
          <a:p>
            <a:pPr algn="ctr">
              <a:defRPr sz="800" b="1">
                <a:solidFill>
                  <a:srgbClr val="0F172A"/>
                </a:solidFill>
              </a:defRPr>
            </a:pPr>
            <a:r>
              <a:t>• Stereo Depth Fusion</a:t>
            </a:r>
          </a:p>
          <a:p>
            <a:pPr>
              <a:defRPr sz="680">
                <a:solidFill>
                  <a:srgbClr val="64748B"/>
                </a:solidFill>
              </a:defRPr>
            </a:pPr>
            <a:r>
              <a:t>Debris Clearance &amp; Passage Traversability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34256" y="3392424"/>
            <a:ext cx="1627631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18288" lIns="45720" rIns="45720"/>
          <a:lstStyle/>
          <a:p>
            <a:pPr algn="ctr">
              <a:defRPr sz="800" b="1">
                <a:solidFill>
                  <a:srgbClr val="0F172A"/>
                </a:solidFill>
              </a:defRPr>
            </a:pPr>
            <a:r>
              <a:t>• Thermal + RGB Fusion</a:t>
            </a:r>
          </a:p>
          <a:p>
            <a:pPr>
              <a:defRPr sz="680">
                <a:solidFill>
                  <a:srgbClr val="64748B"/>
                </a:solidFill>
              </a:defRPr>
            </a:pPr>
            <a:r>
              <a:t>Trapped Miner Detection in Dense Smoke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34256" y="4069080"/>
            <a:ext cx="1627631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18288" lIns="45720" rIns="45720"/>
          <a:lstStyle/>
          <a:p>
            <a:pPr algn="ctr">
              <a:defRPr sz="800" b="1">
                <a:solidFill>
                  <a:srgbClr val="0F172A"/>
                </a:solidFill>
              </a:defRPr>
            </a:pPr>
            <a:r>
              <a:t>• Edge YOLOv8 Detection</a:t>
            </a:r>
          </a:p>
          <a:p>
            <a:pPr>
              <a:defRPr sz="680">
                <a:solidFill>
                  <a:srgbClr val="64748B"/>
                </a:solidFill>
              </a:defRPr>
            </a:pPr>
            <a:r>
              <a:t>Human Body &amp; Posture Assessment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34256" y="4745736"/>
            <a:ext cx="1627631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18288" lIns="45720" rIns="45720"/>
          <a:lstStyle/>
          <a:p>
            <a:pPr algn="ctr">
              <a:defRPr sz="800" b="1">
                <a:solidFill>
                  <a:srgbClr val="0F172A"/>
                </a:solidFill>
              </a:defRPr>
            </a:pPr>
            <a:r>
              <a:t>• Toxic Gas Heatmapping</a:t>
            </a:r>
          </a:p>
          <a:p>
            <a:pPr>
              <a:defRPr sz="680">
                <a:solidFill>
                  <a:srgbClr val="64748B"/>
                </a:solidFill>
              </a:defRPr>
            </a:pPr>
            <a:r>
              <a:t>Multi-Gas Thresholding &amp; Hazard Zones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44768" y="1417320"/>
            <a:ext cx="1737360" cy="406908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199632" y="1490472"/>
            <a:ext cx="1627631" cy="47548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18288" lIns="36576" rIns="36576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4. RISK &amp; GOVERNOR</a:t>
            </a:r>
          </a:p>
          <a:p>
            <a:pPr algn="ctr">
              <a:defRPr sz="750">
                <a:solidFill>
                  <a:srgbClr val="F1F5F9"/>
                </a:solidFill>
              </a:defRPr>
            </a:pPr>
            <a:r>
              <a:t>“Assess Safety”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99632" y="2039112"/>
            <a:ext cx="1627631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18288" lIns="45720" rIns="45720"/>
          <a:lstStyle/>
          <a:p>
            <a:pPr algn="ctr">
              <a:defRPr sz="800" b="1">
                <a:solidFill>
                  <a:srgbClr val="0F172A"/>
                </a:solidFill>
              </a:defRPr>
            </a:pPr>
            <a:r>
              <a:t>• Tunnel Hazard Index</a:t>
            </a:r>
          </a:p>
          <a:p>
            <a:pPr>
              <a:defRPr sz="680">
                <a:solidFill>
                  <a:srgbClr val="64748B"/>
                </a:solidFill>
              </a:defRPr>
            </a:pPr>
            <a:r>
              <a:t>Composite Score (Toxicity, Heat, Slopes)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99632" y="2715768"/>
            <a:ext cx="1627631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18288" lIns="45720" rIns="45720"/>
          <a:lstStyle/>
          <a:p>
            <a:pPr algn="ctr">
              <a:defRPr sz="800" b="1">
                <a:solidFill>
                  <a:srgbClr val="0F172A"/>
                </a:solidFill>
              </a:defRPr>
            </a:pPr>
            <a:r>
              <a:t>• Drop-Off Proximity</a:t>
            </a:r>
          </a:p>
          <a:p>
            <a:pPr>
              <a:defRPr sz="680">
                <a:solidFill>
                  <a:srgbClr val="64748B"/>
                </a:solidFill>
              </a:defRPr>
            </a:pPr>
            <a:r>
              <a:t>Steep Slope &amp; Water Hazard Avoidance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99632" y="3392424"/>
            <a:ext cx="1627631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18288" lIns="45720" rIns="45720"/>
          <a:lstStyle/>
          <a:p>
            <a:pPr algn="ctr">
              <a:defRPr sz="800" b="1">
                <a:solidFill>
                  <a:srgbClr val="0F172A"/>
                </a:solidFill>
              </a:defRPr>
            </a:pPr>
            <a:r>
              <a:t>• Safety Governor</a:t>
            </a:r>
          </a:p>
          <a:p>
            <a:pPr>
              <a:defRPr sz="680">
                <a:solidFill>
                  <a:srgbClr val="64748B"/>
                </a:solidFill>
              </a:defRPr>
            </a:pPr>
            <a:r>
              <a:t>HARD CONSTRAINTS: Overrides AI Autonomy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99632" y="4069080"/>
            <a:ext cx="1627631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18288" lIns="45720" rIns="45720"/>
          <a:lstStyle/>
          <a:p>
            <a:pPr algn="ctr">
              <a:defRPr sz="800" b="1">
                <a:solidFill>
                  <a:srgbClr val="0F172A"/>
                </a:solidFill>
              </a:defRPr>
            </a:pPr>
            <a:r>
              <a:t>• Emergency Rollback</a:t>
            </a:r>
          </a:p>
          <a:p>
            <a:pPr>
              <a:defRPr sz="680">
                <a:solidFill>
                  <a:srgbClr val="64748B"/>
                </a:solidFill>
              </a:defRPr>
            </a:pPr>
            <a:r>
              <a:t>Automatic Safe Retreat on Critical Gas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99632" y="4745736"/>
            <a:ext cx="1627631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18288" lIns="45720" rIns="45720"/>
          <a:lstStyle/>
          <a:p>
            <a:pPr algn="ctr">
              <a:defRPr sz="800" b="1">
                <a:solidFill>
                  <a:srgbClr val="0F172A"/>
                </a:solidFill>
              </a:defRPr>
            </a:pPr>
            <a:r>
              <a:t>• Blackbox SD Buffer</a:t>
            </a:r>
          </a:p>
          <a:p>
            <a:pPr>
              <a:defRPr sz="680">
                <a:solidFill>
                  <a:srgbClr val="64748B"/>
                </a:solidFill>
              </a:defRPr>
            </a:pPr>
            <a:r>
              <a:t>Store-and-Forward Mission Flight Data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10144" y="1417320"/>
            <a:ext cx="1737360" cy="406908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065008" y="1490472"/>
            <a:ext cx="1627631" cy="47548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18288" lIns="36576" rIns="36576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5. AUTONOMY &amp; NAV</a:t>
            </a:r>
          </a:p>
          <a:p>
            <a:pPr algn="ctr">
              <a:defRPr sz="750">
                <a:solidFill>
                  <a:srgbClr val="F1F5F9"/>
                </a:solidFill>
              </a:defRPr>
            </a:pPr>
            <a:r>
              <a:t>“Decide &amp; Plan”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65008" y="2039112"/>
            <a:ext cx="1627631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18288" lIns="45720" rIns="45720"/>
          <a:lstStyle/>
          <a:p>
            <a:pPr algn="ctr">
              <a:defRPr sz="800" b="1">
                <a:solidFill>
                  <a:srgbClr val="0F172A"/>
                </a:solidFill>
              </a:defRPr>
            </a:pPr>
            <a:r>
              <a:t>• Frontier Exploration</a:t>
            </a:r>
          </a:p>
          <a:p>
            <a:pPr>
              <a:defRPr sz="680">
                <a:solidFill>
                  <a:srgbClr val="64748B"/>
                </a:solidFill>
              </a:defRPr>
            </a:pPr>
            <a:r>
              <a:t>Autonomous Waypoints in Comms-Loss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65008" y="2715768"/>
            <a:ext cx="1627631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18288" lIns="45720" rIns="45720"/>
          <a:lstStyle/>
          <a:p>
            <a:pPr algn="ctr">
              <a:defRPr sz="800" b="1">
                <a:solidFill>
                  <a:srgbClr val="0F172A"/>
                </a:solidFill>
              </a:defRPr>
            </a:pPr>
            <a:r>
              <a:t>• Risk-Aware A* / D*</a:t>
            </a:r>
          </a:p>
          <a:p>
            <a:pPr>
              <a:defRPr sz="680">
                <a:solidFill>
                  <a:srgbClr val="64748B"/>
                </a:solidFill>
              </a:defRPr>
            </a:pPr>
            <a:r>
              <a:t>Path Planning Avoiding High-Risk Pockets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65008" y="3392424"/>
            <a:ext cx="1627631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18288" lIns="45720" rIns="45720"/>
          <a:lstStyle/>
          <a:p>
            <a:pPr algn="ctr">
              <a:defRPr sz="800" b="1">
                <a:solidFill>
                  <a:srgbClr val="0F172A"/>
                </a:solidFill>
              </a:defRPr>
            </a:pPr>
            <a:r>
              <a:t>• Bounded Autonomy</a:t>
            </a:r>
          </a:p>
          <a:p>
            <a:pPr>
              <a:defRPr sz="680">
                <a:solidFill>
                  <a:srgbClr val="64748B"/>
                </a:solidFill>
              </a:defRPr>
            </a:pPr>
            <a:r>
              <a:t>Time/Distance Limited Exploration Protocol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65008" y="4069080"/>
            <a:ext cx="1627631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18288" lIns="45720" rIns="45720"/>
          <a:lstStyle/>
          <a:p>
            <a:pPr algn="ctr">
              <a:defRPr sz="800" b="1">
                <a:solidFill>
                  <a:srgbClr val="0F172A"/>
                </a:solidFill>
              </a:defRPr>
            </a:pPr>
            <a:r>
              <a:t>• Auto-Return Timer</a:t>
            </a:r>
          </a:p>
          <a:p>
            <a:pPr>
              <a:defRPr sz="680">
                <a:solidFill>
                  <a:srgbClr val="64748B"/>
                </a:solidFill>
              </a:defRPr>
            </a:pPr>
            <a:r>
              <a:t>Reverse Pathfinding to Signal Link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65008" y="4745736"/>
            <a:ext cx="1627631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18288" lIns="45720" rIns="45720"/>
          <a:lstStyle/>
          <a:p>
            <a:pPr algn="ctr">
              <a:defRPr sz="800" b="1">
                <a:solidFill>
                  <a:srgbClr val="0F172A"/>
                </a:solidFill>
              </a:defRPr>
            </a:pPr>
            <a:r>
              <a:t>• Mission Scheduler</a:t>
            </a:r>
          </a:p>
          <a:p>
            <a:pPr>
              <a:defRPr sz="680">
                <a:solidFill>
                  <a:srgbClr val="64748B"/>
                </a:solidFill>
              </a:defRPr>
            </a:pPr>
            <a:r>
              <a:t>Energy &amp; Battery Aware Navigation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875519" y="1417320"/>
            <a:ext cx="1737360" cy="406908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9930383" y="1490472"/>
            <a:ext cx="1627631" cy="475488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18288" lIns="36576" rIns="36576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6. ROVER ACTUATION</a:t>
            </a:r>
          </a:p>
          <a:p>
            <a:pPr algn="ctr">
              <a:defRPr sz="750">
                <a:solidFill>
                  <a:srgbClr val="F1F5F9"/>
                </a:solidFill>
              </a:defRPr>
            </a:pPr>
            <a:r>
              <a:t>“Act &amp; Deploy”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930383" y="2039112"/>
            <a:ext cx="1627631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18288" lIns="45720" rIns="45720"/>
          <a:lstStyle/>
          <a:p>
            <a:pPr algn="ctr">
              <a:defRPr sz="800" b="1">
                <a:solidFill>
                  <a:srgbClr val="0F172A"/>
                </a:solidFill>
              </a:defRPr>
            </a:pPr>
            <a:r>
              <a:t>• 4WD Rugged Chassis</a:t>
            </a:r>
          </a:p>
          <a:p>
            <a:pPr>
              <a:defRPr sz="680">
                <a:solidFill>
                  <a:srgbClr val="64748B"/>
                </a:solidFill>
              </a:defRPr>
            </a:pPr>
            <a:r>
              <a:t>High-Torque DC Geared Motors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930383" y="2715768"/>
            <a:ext cx="1627631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18288" lIns="45720" rIns="45720"/>
          <a:lstStyle/>
          <a:p>
            <a:pPr algn="ctr">
              <a:defRPr sz="800" b="1">
                <a:solidFill>
                  <a:srgbClr val="0F172A"/>
                </a:solidFill>
              </a:defRPr>
            </a:pPr>
            <a:r>
              <a:t>• BTS7960 Drivers</a:t>
            </a:r>
          </a:p>
          <a:p>
            <a:pPr>
              <a:defRPr sz="680">
                <a:solidFill>
                  <a:srgbClr val="64748B"/>
                </a:solidFill>
              </a:defRPr>
            </a:pPr>
            <a:r>
              <a:t>Dual H-Bridge Motor Control Modules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930383" y="3392424"/>
            <a:ext cx="1627631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18288" lIns="45720" rIns="45720"/>
          <a:lstStyle/>
          <a:p>
            <a:pPr algn="ctr">
              <a:defRPr sz="800" b="1">
                <a:solidFill>
                  <a:srgbClr val="0F172A"/>
                </a:solidFill>
              </a:defRPr>
            </a:pPr>
            <a:r>
              <a:t>• Pan-Tilt Gimbal</a:t>
            </a:r>
          </a:p>
          <a:p>
            <a:pPr>
              <a:defRPr sz="680">
                <a:solidFill>
                  <a:srgbClr val="64748B"/>
                </a:solidFill>
              </a:defRPr>
            </a:pPr>
            <a:r>
              <a:t>2-Axis Servo Camera Surveying Head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930383" y="4069080"/>
            <a:ext cx="1627631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18288" lIns="45720" rIns="45720"/>
          <a:lstStyle/>
          <a:p>
            <a:pPr algn="ctr">
              <a:defRPr sz="800" b="1">
                <a:solidFill>
                  <a:srgbClr val="0F172A"/>
                </a:solidFill>
              </a:defRPr>
            </a:pPr>
            <a:r>
              <a:t>• Breadcrumb Deployer</a:t>
            </a:r>
          </a:p>
          <a:p>
            <a:pPr>
              <a:defRPr sz="680">
                <a:solidFill>
                  <a:srgbClr val="64748B"/>
                </a:solidFill>
              </a:defRPr>
            </a:pPr>
            <a:r>
              <a:t>Wireless Mesh Relay Dispenser Mechanism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930383" y="4745736"/>
            <a:ext cx="1627631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18288" lIns="45720" rIns="45720"/>
          <a:lstStyle/>
          <a:p>
            <a:pPr algn="ctr">
              <a:defRPr sz="800" b="1">
                <a:solidFill>
                  <a:srgbClr val="0F172A"/>
                </a:solidFill>
              </a:defRPr>
            </a:pPr>
            <a:r>
              <a:t>• Emergency Beacons</a:t>
            </a:r>
          </a:p>
          <a:p>
            <a:pPr>
              <a:defRPr sz="680">
                <a:solidFill>
                  <a:srgbClr val="64748B"/>
                </a:solidFill>
              </a:defRPr>
            </a:pPr>
            <a:r>
              <a:t>High-Lumen Strobe &amp; Acoustic Buzzer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8640" y="5596128"/>
            <a:ext cx="11094415" cy="10515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>
              <a:defRPr sz="1000" b="1">
                <a:solidFill>
                  <a:srgbClr val="FED7AA"/>
                </a:solidFill>
              </a:defRPr>
            </a:pPr>
            <a:r>
              <a:t>SURFACE RESCUE TEAM DASHBOARD &amp; SITUATIONAL AWARENESS  (Base Station Station / Control UI)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🗺️ Live 2D Tunnel Grid Map &amp; Hazard Heatmap   |   📹 Low-Latency Video + Thermal Overlay Feed   |   📡 Breadcrumb Mesh Signal &amp; Telemetry Link   |   🚨 Survivor Markers &amp; Timestamped Mission Log   |   🕹️ Manual Override &amp; Emergency E-Stop Controls</a:t>
            </a:r>
          </a:p>
          <a:p>
            <a:pPr>
              <a:defRPr sz="800" b="1">
                <a:solidFill>
                  <a:srgbClr val="EA580C"/>
                </a:solidFill>
              </a:defRPr>
            </a:pPr>
            <a:r>
              <a:t>Guiding Principle: “AI Assists Detection — Rescue Team Makes the Final Decision”  |  Bounded Autonomy During Signal Blackout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